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15544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>
        <p:scale>
          <a:sx n="90" d="100"/>
          <a:sy n="90" d="100"/>
        </p:scale>
        <p:origin x="748" y="-4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544023"/>
            <a:ext cx="10363200" cy="5411893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8164619"/>
            <a:ext cx="9144000" cy="3753061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385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90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3875409"/>
            <a:ext cx="10515600" cy="6466204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0402786"/>
            <a:ext cx="10515600" cy="340042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82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82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2669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4138083"/>
            <a:ext cx="5181600" cy="9863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4138083"/>
            <a:ext cx="5181600" cy="9863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938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827620"/>
            <a:ext cx="10515600" cy="30046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3810636"/>
            <a:ext cx="5157787" cy="186753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5678170"/>
            <a:ext cx="5157787" cy="8351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3810636"/>
            <a:ext cx="5183188" cy="1867534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5678170"/>
            <a:ext cx="5183188" cy="83517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916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287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50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6320"/>
            <a:ext cx="3932237" cy="36271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2238167"/>
            <a:ext cx="6172200" cy="1104688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663440"/>
            <a:ext cx="3932237" cy="863959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38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036320"/>
            <a:ext cx="3932237" cy="362712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2238167"/>
            <a:ext cx="6172200" cy="11046883"/>
          </a:xfrm>
        </p:spPr>
        <p:txBody>
          <a:bodyPr anchor="t"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663440"/>
            <a:ext cx="3932237" cy="863959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376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930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827617"/>
            <a:ext cx="2628900" cy="131734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827617"/>
            <a:ext cx="7734300" cy="131734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59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827620"/>
            <a:ext cx="10515600" cy="30046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138083"/>
            <a:ext cx="10515600" cy="98630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14407730"/>
            <a:ext cx="274320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D41DF-2715-4A22-A719-CF45BD24DEDB}" type="datetimeFigureOut">
              <a:rPr lang="en-US" smtClean="0"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14407730"/>
            <a:ext cx="411480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14407730"/>
            <a:ext cx="2743200" cy="8276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46999-C216-4D7A-9C89-AB6F471BC0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4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emf"/><Relationship Id="rId5" Type="http://schemas.openxmlformats.org/officeDocument/2006/relationships/image" Target="../media/image4.png"/><Relationship Id="rId10" Type="http://schemas.openxmlformats.org/officeDocument/2006/relationships/oleObject" Target="../embeddings/oleObject1.bin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D128E6B3-E4CA-0874-127A-4B12DCB59BD0}"/>
              </a:ext>
            </a:extLst>
          </p:cNvPr>
          <p:cNvSpPr/>
          <p:nvPr/>
        </p:nvSpPr>
        <p:spPr>
          <a:xfrm>
            <a:off x="1724061" y="2175654"/>
            <a:ext cx="483704" cy="503582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42223EAE-E139-6FB0-A001-F43979B0432D}"/>
              </a:ext>
            </a:extLst>
          </p:cNvPr>
          <p:cNvSpPr/>
          <p:nvPr/>
        </p:nvSpPr>
        <p:spPr>
          <a:xfrm>
            <a:off x="2370104" y="2175654"/>
            <a:ext cx="483704" cy="503582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2FC5B7E-E642-6D49-EDC6-1B0960019ABB}"/>
              </a:ext>
            </a:extLst>
          </p:cNvPr>
          <p:cNvSpPr/>
          <p:nvPr/>
        </p:nvSpPr>
        <p:spPr>
          <a:xfrm>
            <a:off x="3016147" y="2175654"/>
            <a:ext cx="483704" cy="503582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3375065-422D-9FFB-195D-1A15F60CD66D}"/>
              </a:ext>
            </a:extLst>
          </p:cNvPr>
          <p:cNvSpPr/>
          <p:nvPr/>
        </p:nvSpPr>
        <p:spPr>
          <a:xfrm>
            <a:off x="3662190" y="2175654"/>
            <a:ext cx="483704" cy="503582"/>
          </a:xfrm>
          <a:prstGeom prst="ellips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8" name="Left Brace 7">
            <a:extLst>
              <a:ext uri="{FF2B5EF4-FFF2-40B4-BE49-F238E27FC236}">
                <a16:creationId xmlns:a16="http://schemas.microsoft.com/office/drawing/2014/main" id="{9CEEE575-6A7A-23CD-6D2B-21D814ABD6D6}"/>
              </a:ext>
            </a:extLst>
          </p:cNvPr>
          <p:cNvSpPr/>
          <p:nvPr/>
        </p:nvSpPr>
        <p:spPr>
          <a:xfrm rot="5400000">
            <a:off x="2741168" y="714604"/>
            <a:ext cx="410817" cy="2511287"/>
          </a:xfrm>
          <a:prstGeom prst="leftBrace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86EFBC-3400-E885-465C-5C7E61F03B18}"/>
              </a:ext>
            </a:extLst>
          </p:cNvPr>
          <p:cNvSpPr/>
          <p:nvPr/>
        </p:nvSpPr>
        <p:spPr>
          <a:xfrm>
            <a:off x="2065305" y="1320893"/>
            <a:ext cx="1702905" cy="357809"/>
          </a:xfrm>
          <a:prstGeom prst="round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Teeth regions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71965399-8CD4-69B2-7B46-46E69AB3AAD4}"/>
              </a:ext>
            </a:extLst>
          </p:cNvPr>
          <p:cNvSpPr/>
          <p:nvPr/>
        </p:nvSpPr>
        <p:spPr>
          <a:xfrm>
            <a:off x="2794174" y="2679241"/>
            <a:ext cx="351182" cy="503582"/>
          </a:xfrm>
          <a:prstGeom prst="downArrow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8691D73-4108-11E3-98A7-B97DE2ED2A9B}"/>
              </a:ext>
            </a:extLst>
          </p:cNvPr>
          <p:cNvSpPr/>
          <p:nvPr/>
        </p:nvSpPr>
        <p:spPr>
          <a:xfrm>
            <a:off x="4470992" y="10436572"/>
            <a:ext cx="2723363" cy="64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Running the comparison</a:t>
            </a:r>
          </a:p>
        </p:txBody>
      </p:sp>
      <p:pic>
        <p:nvPicPr>
          <p:cNvPr id="54" name="Picture 53" descr="A colorful circle with a white circle in the middle&#10;&#10;AI-generated content may be incorrect.">
            <a:extLst>
              <a:ext uri="{FF2B5EF4-FFF2-40B4-BE49-F238E27FC236}">
                <a16:creationId xmlns:a16="http://schemas.microsoft.com/office/drawing/2014/main" id="{454DABFA-D99F-5AD9-334A-8FDF32C9B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81" y="3850110"/>
            <a:ext cx="988640" cy="1012147"/>
          </a:xfrm>
          <a:prstGeom prst="rect">
            <a:avLst/>
          </a:prstGeom>
        </p:spPr>
      </p:pic>
      <p:pic>
        <p:nvPicPr>
          <p:cNvPr id="56" name="Picture 55" descr="A circle with a multicolored flag&#10;&#10;AI-generated content may be incorrect.">
            <a:extLst>
              <a:ext uri="{FF2B5EF4-FFF2-40B4-BE49-F238E27FC236}">
                <a16:creationId xmlns:a16="http://schemas.microsoft.com/office/drawing/2014/main" id="{6D9C65F8-3818-C872-D60B-8A0027134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0056" y="4014606"/>
            <a:ext cx="890642" cy="879138"/>
          </a:xfrm>
          <a:prstGeom prst="rect">
            <a:avLst/>
          </a:prstGeom>
        </p:spPr>
      </p:pic>
      <p:sp>
        <p:nvSpPr>
          <p:cNvPr id="65" name="TextBox 64">
            <a:extLst>
              <a:ext uri="{FF2B5EF4-FFF2-40B4-BE49-F238E27FC236}">
                <a16:creationId xmlns:a16="http://schemas.microsoft.com/office/drawing/2014/main" id="{A45A5680-1F36-54A0-0FA9-81A4FCD1F4E2}"/>
              </a:ext>
            </a:extLst>
          </p:cNvPr>
          <p:cNvSpPr txBox="1"/>
          <p:nvPr/>
        </p:nvSpPr>
        <p:spPr>
          <a:xfrm>
            <a:off x="261825" y="4900107"/>
            <a:ext cx="95077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RGB Colors</a:t>
            </a:r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C03DD9B2-B9C4-7E79-0A35-B619B90F29A6}"/>
              </a:ext>
            </a:extLst>
          </p:cNvPr>
          <p:cNvCxnSpPr>
            <a:cxnSpLocks/>
          </p:cNvCxnSpPr>
          <p:nvPr/>
        </p:nvCxnSpPr>
        <p:spPr>
          <a:xfrm>
            <a:off x="1367243" y="4495411"/>
            <a:ext cx="312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70" name="TextBox 69">
            <a:extLst>
              <a:ext uri="{FF2B5EF4-FFF2-40B4-BE49-F238E27FC236}">
                <a16:creationId xmlns:a16="http://schemas.microsoft.com/office/drawing/2014/main" id="{02C03FA7-607D-8BE3-F213-97A2044AD9C1}"/>
              </a:ext>
            </a:extLst>
          </p:cNvPr>
          <p:cNvSpPr txBox="1"/>
          <p:nvPr/>
        </p:nvSpPr>
        <p:spPr>
          <a:xfrm>
            <a:off x="1669219" y="4904968"/>
            <a:ext cx="1151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CIELAB Colors</a:t>
            </a:r>
          </a:p>
        </p:txBody>
      </p:sp>
      <p:pic>
        <p:nvPicPr>
          <p:cNvPr id="84" name="Picture 83" descr="A graph of a bar chart&#10;&#10;AI-generated content may be incorrect.">
            <a:extLst>
              <a:ext uri="{FF2B5EF4-FFF2-40B4-BE49-F238E27FC236}">
                <a16:creationId xmlns:a16="http://schemas.microsoft.com/office/drawing/2014/main" id="{33598911-1A4F-40FC-3FB8-7E59FEA26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5369" y="4036471"/>
            <a:ext cx="818790" cy="734938"/>
          </a:xfrm>
          <a:prstGeom prst="rect">
            <a:avLst/>
          </a:prstGeom>
        </p:spPr>
      </p:pic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7E8F6F53-8079-DEE8-ADDC-7794E144BB43}"/>
              </a:ext>
            </a:extLst>
          </p:cNvPr>
          <p:cNvCxnSpPr>
            <a:cxnSpLocks/>
          </p:cNvCxnSpPr>
          <p:nvPr/>
        </p:nvCxnSpPr>
        <p:spPr>
          <a:xfrm>
            <a:off x="2731226" y="4506832"/>
            <a:ext cx="312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A0FCA2A-2A14-4C2A-60C8-1C97139FECAE}"/>
              </a:ext>
            </a:extLst>
          </p:cNvPr>
          <p:cNvSpPr txBox="1"/>
          <p:nvPr/>
        </p:nvSpPr>
        <p:spPr>
          <a:xfrm>
            <a:off x="2828719" y="4779446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Sort by lightness</a:t>
            </a:r>
          </a:p>
          <a:p>
            <a:pPr algn="ctr"/>
            <a:r>
              <a:rPr lang="en-US" sz="1200" dirty="0"/>
              <a:t>(select median color)</a:t>
            </a:r>
          </a:p>
        </p:txBody>
      </p:sp>
      <p:pic>
        <p:nvPicPr>
          <p:cNvPr id="88" name="Picture 87" descr="A black scissors cutting a yellow circle&#10;&#10;AI-generated content may be incorrect.">
            <a:extLst>
              <a:ext uri="{FF2B5EF4-FFF2-40B4-BE49-F238E27FC236}">
                <a16:creationId xmlns:a16="http://schemas.microsoft.com/office/drawing/2014/main" id="{219631C6-50D9-53E2-FB8B-1E820C3EB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8041" y="4021610"/>
            <a:ext cx="1219807" cy="780676"/>
          </a:xfrm>
          <a:prstGeom prst="rect">
            <a:avLst/>
          </a:prstGeom>
        </p:spPr>
      </p:pic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76E05B73-6B3A-8757-1FEA-C5A9DC0B0AFA}"/>
              </a:ext>
            </a:extLst>
          </p:cNvPr>
          <p:cNvCxnSpPr>
            <a:cxnSpLocks/>
          </p:cNvCxnSpPr>
          <p:nvPr/>
        </p:nvCxnSpPr>
        <p:spPr>
          <a:xfrm>
            <a:off x="4128227" y="4478874"/>
            <a:ext cx="312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77CC43E2-B7D2-5745-63BB-9968B4CAB1B0}"/>
              </a:ext>
            </a:extLst>
          </p:cNvPr>
          <p:cNvSpPr txBox="1"/>
          <p:nvPr/>
        </p:nvSpPr>
        <p:spPr>
          <a:xfrm>
            <a:off x="4566326" y="4760695"/>
            <a:ext cx="1063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Prune</a:t>
            </a:r>
          </a:p>
          <a:p>
            <a:pPr algn="ctr"/>
            <a:r>
              <a:rPr lang="en-US" sz="1200" dirty="0"/>
              <a:t>outlier colors</a:t>
            </a:r>
          </a:p>
        </p:txBody>
      </p:sp>
      <p:sp>
        <p:nvSpPr>
          <p:cNvPr id="92" name="Left Brace 91">
            <a:extLst>
              <a:ext uri="{FF2B5EF4-FFF2-40B4-BE49-F238E27FC236}">
                <a16:creationId xmlns:a16="http://schemas.microsoft.com/office/drawing/2014/main" id="{CF9F37AE-6AD5-9919-5FB6-891CDD4B3311}"/>
              </a:ext>
            </a:extLst>
          </p:cNvPr>
          <p:cNvSpPr/>
          <p:nvPr/>
        </p:nvSpPr>
        <p:spPr>
          <a:xfrm rot="5400000">
            <a:off x="2760354" y="1130474"/>
            <a:ext cx="410817" cy="5391270"/>
          </a:xfrm>
          <a:prstGeom prst="leftBrac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C1765D04-3F8C-2039-251D-72F9422A58F1}"/>
              </a:ext>
            </a:extLst>
          </p:cNvPr>
          <p:cNvSpPr txBox="1"/>
          <p:nvPr/>
        </p:nvSpPr>
        <p:spPr>
          <a:xfrm>
            <a:off x="1308155" y="3235236"/>
            <a:ext cx="3276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Do the following process for each region</a:t>
            </a:r>
          </a:p>
        </p:txBody>
      </p:sp>
      <p:sp>
        <p:nvSpPr>
          <p:cNvPr id="94" name="Left Brace 93">
            <a:extLst>
              <a:ext uri="{FF2B5EF4-FFF2-40B4-BE49-F238E27FC236}">
                <a16:creationId xmlns:a16="http://schemas.microsoft.com/office/drawing/2014/main" id="{9805AF43-693F-C1DA-1E34-AF197BF88E93}"/>
              </a:ext>
            </a:extLst>
          </p:cNvPr>
          <p:cNvSpPr/>
          <p:nvPr/>
        </p:nvSpPr>
        <p:spPr>
          <a:xfrm rot="16200000">
            <a:off x="2722451" y="2582490"/>
            <a:ext cx="410817" cy="5391270"/>
          </a:xfrm>
          <a:prstGeom prst="leftBrace">
            <a:avLst/>
          </a:prstGeom>
          <a:noFill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6" name="Picture 95" descr="A diagram of different shades of gold&#10;&#10;AI-generated content may be incorrect.">
            <a:extLst>
              <a:ext uri="{FF2B5EF4-FFF2-40B4-BE49-F238E27FC236}">
                <a16:creationId xmlns:a16="http://schemas.microsoft.com/office/drawing/2014/main" id="{20EE8F29-62A6-FA20-2E2F-7DD3CC3B05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7814" y="5519561"/>
            <a:ext cx="1514376" cy="1287078"/>
          </a:xfrm>
          <a:prstGeom prst="rect">
            <a:avLst/>
          </a:prstGeom>
        </p:spPr>
      </p:pic>
      <p:sp>
        <p:nvSpPr>
          <p:cNvPr id="97" name="TextBox 96">
            <a:extLst>
              <a:ext uri="{FF2B5EF4-FFF2-40B4-BE49-F238E27FC236}">
                <a16:creationId xmlns:a16="http://schemas.microsoft.com/office/drawing/2014/main" id="{65CE98D2-92C4-ED5C-E480-622C38D42D92}"/>
              </a:ext>
            </a:extLst>
          </p:cNvPr>
          <p:cNvSpPr txBox="1"/>
          <p:nvPr/>
        </p:nvSpPr>
        <p:spPr>
          <a:xfrm>
            <a:off x="1233236" y="6786107"/>
            <a:ext cx="34650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Merge all regions into one</a:t>
            </a:r>
          </a:p>
          <a:p>
            <a:pPr algn="ctr"/>
            <a:r>
              <a:rPr lang="en-US" sz="1400" dirty="0"/>
              <a:t>Then sort the resultant palette by lightness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393F49BE-6A51-9402-E84F-6B6494A1C3CA}"/>
              </a:ext>
            </a:extLst>
          </p:cNvPr>
          <p:cNvCxnSpPr>
            <a:cxnSpLocks/>
          </p:cNvCxnSpPr>
          <p:nvPr/>
        </p:nvCxnSpPr>
        <p:spPr>
          <a:xfrm>
            <a:off x="2981161" y="7309328"/>
            <a:ext cx="8748" cy="3266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6C615634-1306-9A39-9822-3554DDEA473A}"/>
              </a:ext>
            </a:extLst>
          </p:cNvPr>
          <p:cNvSpPr txBox="1"/>
          <p:nvPr/>
        </p:nvSpPr>
        <p:spPr>
          <a:xfrm>
            <a:off x="1524359" y="8828876"/>
            <a:ext cx="284443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Taking out an even sample</a:t>
            </a:r>
          </a:p>
          <a:p>
            <a:pPr algn="ctr"/>
            <a:r>
              <a:rPr lang="en-US" sz="1400" dirty="0"/>
              <a:t>Out of the big palette</a:t>
            </a:r>
          </a:p>
          <a:p>
            <a:pPr algn="ctr"/>
            <a:r>
              <a:rPr lang="en-US" sz="1400" dirty="0"/>
              <a:t>Similar in size to the shade regions</a:t>
            </a:r>
          </a:p>
        </p:txBody>
      </p:sp>
      <p:pic>
        <p:nvPicPr>
          <p:cNvPr id="105" name="Picture 104" descr="A yellow and white diagram&#10;&#10;AI-generated content may be incorrect.">
            <a:extLst>
              <a:ext uri="{FF2B5EF4-FFF2-40B4-BE49-F238E27FC236}">
                <a16:creationId xmlns:a16="http://schemas.microsoft.com/office/drawing/2014/main" id="{4247524C-6F62-3801-5F50-7FD2560E99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98824" y="7694041"/>
            <a:ext cx="1658068" cy="1062081"/>
          </a:xfrm>
          <a:prstGeom prst="rect">
            <a:avLst/>
          </a:prstGeom>
        </p:spPr>
      </p:pic>
      <p:sp>
        <p:nvSpPr>
          <p:cNvPr id="106" name="Oval 105">
            <a:extLst>
              <a:ext uri="{FF2B5EF4-FFF2-40B4-BE49-F238E27FC236}">
                <a16:creationId xmlns:a16="http://schemas.microsoft.com/office/drawing/2014/main" id="{81374ABF-08C9-97A0-90E6-9CE6572DE70E}"/>
              </a:ext>
            </a:extLst>
          </p:cNvPr>
          <p:cNvSpPr/>
          <p:nvPr/>
        </p:nvSpPr>
        <p:spPr>
          <a:xfrm>
            <a:off x="7970372" y="2175654"/>
            <a:ext cx="483704" cy="503582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3D56F7E-F05E-6F25-B879-B5FCA7561369}"/>
              </a:ext>
            </a:extLst>
          </p:cNvPr>
          <p:cNvSpPr/>
          <p:nvPr/>
        </p:nvSpPr>
        <p:spPr>
          <a:xfrm>
            <a:off x="8616415" y="2175654"/>
            <a:ext cx="483704" cy="503582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B</a:t>
            </a:r>
          </a:p>
        </p:txBody>
      </p:sp>
      <p:sp>
        <p:nvSpPr>
          <p:cNvPr id="108" name="Oval 107">
            <a:extLst>
              <a:ext uri="{FF2B5EF4-FFF2-40B4-BE49-F238E27FC236}">
                <a16:creationId xmlns:a16="http://schemas.microsoft.com/office/drawing/2014/main" id="{6FAD7A26-08DB-60E8-DF24-9D32B50F1F53}"/>
              </a:ext>
            </a:extLst>
          </p:cNvPr>
          <p:cNvSpPr/>
          <p:nvPr/>
        </p:nvSpPr>
        <p:spPr>
          <a:xfrm>
            <a:off x="9262458" y="2175654"/>
            <a:ext cx="483704" cy="503582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C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DAFC6826-B390-C640-FEDA-64CC8839B326}"/>
              </a:ext>
            </a:extLst>
          </p:cNvPr>
          <p:cNvSpPr/>
          <p:nvPr/>
        </p:nvSpPr>
        <p:spPr>
          <a:xfrm>
            <a:off x="9908501" y="2175654"/>
            <a:ext cx="483704" cy="503582"/>
          </a:xfrm>
          <a:prstGeom prst="ellips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D</a:t>
            </a:r>
          </a:p>
        </p:txBody>
      </p:sp>
      <p:sp>
        <p:nvSpPr>
          <p:cNvPr id="110" name="Left Brace 109">
            <a:extLst>
              <a:ext uri="{FF2B5EF4-FFF2-40B4-BE49-F238E27FC236}">
                <a16:creationId xmlns:a16="http://schemas.microsoft.com/office/drawing/2014/main" id="{0A24F1E2-2CEA-D34A-FB74-56B0F13C28E6}"/>
              </a:ext>
            </a:extLst>
          </p:cNvPr>
          <p:cNvSpPr/>
          <p:nvPr/>
        </p:nvSpPr>
        <p:spPr>
          <a:xfrm rot="5400000">
            <a:off x="8987479" y="714604"/>
            <a:ext cx="410817" cy="2511287"/>
          </a:xfrm>
          <a:prstGeom prst="leftBrace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056526BE-88E8-7591-5377-D1541410A15E}"/>
              </a:ext>
            </a:extLst>
          </p:cNvPr>
          <p:cNvSpPr/>
          <p:nvPr/>
        </p:nvSpPr>
        <p:spPr>
          <a:xfrm>
            <a:off x="8311617" y="1320893"/>
            <a:ext cx="1702905" cy="357809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Shade regions</a:t>
            </a:r>
          </a:p>
        </p:txBody>
      </p:sp>
      <p:sp>
        <p:nvSpPr>
          <p:cNvPr id="112" name="Arrow: Down 111">
            <a:extLst>
              <a:ext uri="{FF2B5EF4-FFF2-40B4-BE49-F238E27FC236}">
                <a16:creationId xmlns:a16="http://schemas.microsoft.com/office/drawing/2014/main" id="{4997D17E-3BA3-3A52-4FE9-7B155D7EB647}"/>
              </a:ext>
            </a:extLst>
          </p:cNvPr>
          <p:cNvSpPr/>
          <p:nvPr/>
        </p:nvSpPr>
        <p:spPr>
          <a:xfrm>
            <a:off x="9040484" y="2679241"/>
            <a:ext cx="351182" cy="50358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3" name="Picture 112" descr="A colorful circle with a white circle in the middle&#10;&#10;AI-generated content may be incorrect.">
            <a:extLst>
              <a:ext uri="{FF2B5EF4-FFF2-40B4-BE49-F238E27FC236}">
                <a16:creationId xmlns:a16="http://schemas.microsoft.com/office/drawing/2014/main" id="{3797124F-3F81-B7EF-957D-48A8F7E45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092" y="3850111"/>
            <a:ext cx="988640" cy="1012147"/>
          </a:xfrm>
          <a:prstGeom prst="rect">
            <a:avLst/>
          </a:prstGeom>
        </p:spPr>
      </p:pic>
      <p:pic>
        <p:nvPicPr>
          <p:cNvPr id="114" name="Picture 113" descr="A circle with a multicolored flag&#10;&#10;AI-generated content may be incorrect.">
            <a:extLst>
              <a:ext uri="{FF2B5EF4-FFF2-40B4-BE49-F238E27FC236}">
                <a16:creationId xmlns:a16="http://schemas.microsoft.com/office/drawing/2014/main" id="{37FEE28C-C0C6-E9DC-8352-263680F71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367" y="4014606"/>
            <a:ext cx="890642" cy="879138"/>
          </a:xfrm>
          <a:prstGeom prst="rect">
            <a:avLst/>
          </a:prstGeom>
        </p:spPr>
      </p:pic>
      <p:sp>
        <p:nvSpPr>
          <p:cNvPr id="115" name="TextBox 114">
            <a:extLst>
              <a:ext uri="{FF2B5EF4-FFF2-40B4-BE49-F238E27FC236}">
                <a16:creationId xmlns:a16="http://schemas.microsoft.com/office/drawing/2014/main" id="{CD872AFE-43A2-699B-85C6-6D968CDA482D}"/>
              </a:ext>
            </a:extLst>
          </p:cNvPr>
          <p:cNvSpPr txBox="1"/>
          <p:nvPr/>
        </p:nvSpPr>
        <p:spPr>
          <a:xfrm>
            <a:off x="6508136" y="4900108"/>
            <a:ext cx="9507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RGB Colors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78A18D9E-32D0-92B3-50B7-56597B2B5F01}"/>
              </a:ext>
            </a:extLst>
          </p:cNvPr>
          <p:cNvCxnSpPr>
            <a:cxnSpLocks/>
          </p:cNvCxnSpPr>
          <p:nvPr/>
        </p:nvCxnSpPr>
        <p:spPr>
          <a:xfrm>
            <a:off x="7613553" y="4495411"/>
            <a:ext cx="312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17" name="TextBox 116">
            <a:extLst>
              <a:ext uri="{FF2B5EF4-FFF2-40B4-BE49-F238E27FC236}">
                <a16:creationId xmlns:a16="http://schemas.microsoft.com/office/drawing/2014/main" id="{1DA213E4-6118-0ECA-8A88-44EE040DF375}"/>
              </a:ext>
            </a:extLst>
          </p:cNvPr>
          <p:cNvSpPr txBox="1"/>
          <p:nvPr/>
        </p:nvSpPr>
        <p:spPr>
          <a:xfrm>
            <a:off x="7915531" y="4904968"/>
            <a:ext cx="11516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CIELAB Colors</a:t>
            </a:r>
          </a:p>
        </p:txBody>
      </p:sp>
      <p:pic>
        <p:nvPicPr>
          <p:cNvPr id="118" name="Picture 117" descr="A graph of a bar chart&#10;&#10;AI-generated content may be incorrect.">
            <a:extLst>
              <a:ext uri="{FF2B5EF4-FFF2-40B4-BE49-F238E27FC236}">
                <a16:creationId xmlns:a16="http://schemas.microsoft.com/office/drawing/2014/main" id="{D89E8D37-5166-2E58-CA46-C00DEFDE27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681" y="4036471"/>
            <a:ext cx="818790" cy="734938"/>
          </a:xfrm>
          <a:prstGeom prst="rect">
            <a:avLst/>
          </a:prstGeom>
        </p:spPr>
      </p:pic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546D1E2F-C302-DAD2-F357-699D5D22CB39}"/>
              </a:ext>
            </a:extLst>
          </p:cNvPr>
          <p:cNvCxnSpPr>
            <a:cxnSpLocks/>
          </p:cNvCxnSpPr>
          <p:nvPr/>
        </p:nvCxnSpPr>
        <p:spPr>
          <a:xfrm>
            <a:off x="8977538" y="4506832"/>
            <a:ext cx="312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355B5808-6549-5386-260E-EE8DA6C0B074}"/>
              </a:ext>
            </a:extLst>
          </p:cNvPr>
          <p:cNvSpPr txBox="1"/>
          <p:nvPr/>
        </p:nvSpPr>
        <p:spPr>
          <a:xfrm>
            <a:off x="9075030" y="4779446"/>
            <a:ext cx="15921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Sort by lightness</a:t>
            </a:r>
          </a:p>
          <a:p>
            <a:pPr algn="ctr"/>
            <a:r>
              <a:rPr lang="en-US" sz="1200" dirty="0"/>
              <a:t>(select median color)</a:t>
            </a:r>
          </a:p>
        </p:txBody>
      </p:sp>
      <p:pic>
        <p:nvPicPr>
          <p:cNvPr id="121" name="Picture 120" descr="A black scissors cutting a yellow circle&#10;&#10;AI-generated content may be incorrect.">
            <a:extLst>
              <a:ext uri="{FF2B5EF4-FFF2-40B4-BE49-F238E27FC236}">
                <a16:creationId xmlns:a16="http://schemas.microsoft.com/office/drawing/2014/main" id="{2FDF943E-2825-C5CC-8986-154ADB97AF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4352" y="4021610"/>
            <a:ext cx="1219807" cy="780676"/>
          </a:xfrm>
          <a:prstGeom prst="rect">
            <a:avLst/>
          </a:prstGeom>
        </p:spPr>
      </p:pic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B8C7D559-3D68-FDFD-41CE-5744D7CB0F9C}"/>
              </a:ext>
            </a:extLst>
          </p:cNvPr>
          <p:cNvCxnSpPr>
            <a:cxnSpLocks/>
          </p:cNvCxnSpPr>
          <p:nvPr/>
        </p:nvCxnSpPr>
        <p:spPr>
          <a:xfrm>
            <a:off x="10374537" y="4478874"/>
            <a:ext cx="3122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E5029F5B-6AC1-3F54-4C41-07924988D9A8}"/>
              </a:ext>
            </a:extLst>
          </p:cNvPr>
          <p:cNvSpPr txBox="1"/>
          <p:nvPr/>
        </p:nvSpPr>
        <p:spPr>
          <a:xfrm>
            <a:off x="10805143" y="4772257"/>
            <a:ext cx="10632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Prune</a:t>
            </a:r>
          </a:p>
          <a:p>
            <a:pPr algn="ctr"/>
            <a:r>
              <a:rPr lang="en-US" sz="1200" dirty="0"/>
              <a:t>outlier colors</a:t>
            </a:r>
          </a:p>
        </p:txBody>
      </p:sp>
      <p:sp>
        <p:nvSpPr>
          <p:cNvPr id="124" name="Left Brace 123">
            <a:extLst>
              <a:ext uri="{FF2B5EF4-FFF2-40B4-BE49-F238E27FC236}">
                <a16:creationId xmlns:a16="http://schemas.microsoft.com/office/drawing/2014/main" id="{3BD8B3A9-559E-E3FD-2E41-67823D674CE0}"/>
              </a:ext>
            </a:extLst>
          </p:cNvPr>
          <p:cNvSpPr/>
          <p:nvPr/>
        </p:nvSpPr>
        <p:spPr>
          <a:xfrm rot="5400000">
            <a:off x="9006665" y="1130474"/>
            <a:ext cx="410817" cy="5391270"/>
          </a:xfrm>
          <a:prstGeom prst="leftBrac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3D54DE0-66F6-3D32-357C-3B8973BE6FA1}"/>
              </a:ext>
            </a:extLst>
          </p:cNvPr>
          <p:cNvSpPr txBox="1"/>
          <p:nvPr/>
        </p:nvSpPr>
        <p:spPr>
          <a:xfrm>
            <a:off x="7554467" y="3235237"/>
            <a:ext cx="32768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/>
              <a:t>Do the following process for each region</a:t>
            </a:r>
          </a:p>
        </p:txBody>
      </p:sp>
      <p:sp>
        <p:nvSpPr>
          <p:cNvPr id="126" name="Arrow: Down 125">
            <a:extLst>
              <a:ext uri="{FF2B5EF4-FFF2-40B4-BE49-F238E27FC236}">
                <a16:creationId xmlns:a16="http://schemas.microsoft.com/office/drawing/2014/main" id="{90DAD9C4-55D3-68FF-6D6F-F380CF1184C4}"/>
              </a:ext>
            </a:extLst>
          </p:cNvPr>
          <p:cNvSpPr/>
          <p:nvPr/>
        </p:nvSpPr>
        <p:spPr>
          <a:xfrm>
            <a:off x="8987476" y="5398872"/>
            <a:ext cx="351182" cy="50358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8" name="Picture 127" descr="A row of yellow shades&#10;&#10;AI-generated content may be incorrect.">
            <a:extLst>
              <a:ext uri="{FF2B5EF4-FFF2-40B4-BE49-F238E27FC236}">
                <a16:creationId xmlns:a16="http://schemas.microsoft.com/office/drawing/2014/main" id="{F910C327-57BB-E95D-CAE5-0B868A0A086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2467" y="5943406"/>
            <a:ext cx="1823221" cy="1357985"/>
          </a:xfrm>
          <a:prstGeom prst="rect">
            <a:avLst/>
          </a:prstGeom>
        </p:spPr>
      </p:pic>
      <p:sp>
        <p:nvSpPr>
          <p:cNvPr id="129" name="TextBox 128">
            <a:extLst>
              <a:ext uri="{FF2B5EF4-FFF2-40B4-BE49-F238E27FC236}">
                <a16:creationId xmlns:a16="http://schemas.microsoft.com/office/drawing/2014/main" id="{D1D90F42-7D1E-3278-006A-F47799935C92}"/>
              </a:ext>
            </a:extLst>
          </p:cNvPr>
          <p:cNvSpPr txBox="1"/>
          <p:nvPr/>
        </p:nvSpPr>
        <p:spPr>
          <a:xfrm>
            <a:off x="9317845" y="6002548"/>
            <a:ext cx="95571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Region A</a:t>
            </a: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EE0B1638-B42D-06B2-381F-45DF47AA7F63}"/>
              </a:ext>
            </a:extLst>
          </p:cNvPr>
          <p:cNvSpPr txBox="1"/>
          <p:nvPr/>
        </p:nvSpPr>
        <p:spPr>
          <a:xfrm>
            <a:off x="9315927" y="6437569"/>
            <a:ext cx="9589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Region B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1068D56-3094-B933-2AEF-B8911CB78CF9}"/>
              </a:ext>
            </a:extLst>
          </p:cNvPr>
          <p:cNvSpPr txBox="1"/>
          <p:nvPr/>
        </p:nvSpPr>
        <p:spPr>
          <a:xfrm>
            <a:off x="9293122" y="6869479"/>
            <a:ext cx="97815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Region C</a:t>
            </a:r>
          </a:p>
        </p:txBody>
      </p:sp>
      <p:cxnSp>
        <p:nvCxnSpPr>
          <p:cNvPr id="133" name="Connector: Elbow 132">
            <a:extLst>
              <a:ext uri="{FF2B5EF4-FFF2-40B4-BE49-F238E27FC236}">
                <a16:creationId xmlns:a16="http://schemas.microsoft.com/office/drawing/2014/main" id="{9BB5B643-285B-37FA-1C1D-E32A1B8B9DD6}"/>
              </a:ext>
            </a:extLst>
          </p:cNvPr>
          <p:cNvCxnSpPr>
            <a:cxnSpLocks/>
            <a:stCxn id="103" idx="3"/>
            <a:endCxn id="145" idx="2"/>
          </p:cNvCxnSpPr>
          <p:nvPr/>
        </p:nvCxnSpPr>
        <p:spPr>
          <a:xfrm flipV="1">
            <a:off x="4368792" y="7187562"/>
            <a:ext cx="2080151" cy="20106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Arrow: Down 137">
            <a:extLst>
              <a:ext uri="{FF2B5EF4-FFF2-40B4-BE49-F238E27FC236}">
                <a16:creationId xmlns:a16="http://schemas.microsoft.com/office/drawing/2014/main" id="{963E1AA6-DED5-D296-A688-069151AA15D0}"/>
              </a:ext>
            </a:extLst>
          </p:cNvPr>
          <p:cNvSpPr/>
          <p:nvPr/>
        </p:nvSpPr>
        <p:spPr>
          <a:xfrm rot="5400000">
            <a:off x="7115083" y="6370605"/>
            <a:ext cx="351182" cy="503582"/>
          </a:xfrm>
          <a:prstGeom prst="down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4" name="Picture 143" descr="A diagram of a chart&#10;&#10;AI-generated content may be incorrect.">
            <a:extLst>
              <a:ext uri="{FF2B5EF4-FFF2-40B4-BE49-F238E27FC236}">
                <a16:creationId xmlns:a16="http://schemas.microsoft.com/office/drawing/2014/main" id="{C15B1EA7-76DF-56B2-F61B-13AE1D51CD3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85073" y="5822702"/>
            <a:ext cx="808962" cy="698246"/>
          </a:xfrm>
          <a:prstGeom prst="rect">
            <a:avLst/>
          </a:prstGeom>
        </p:spPr>
      </p:pic>
      <p:sp>
        <p:nvSpPr>
          <p:cNvPr id="145" name="TextBox 144">
            <a:extLst>
              <a:ext uri="{FF2B5EF4-FFF2-40B4-BE49-F238E27FC236}">
                <a16:creationId xmlns:a16="http://schemas.microsoft.com/office/drawing/2014/main" id="{654B2C4B-5055-DCA7-4C28-C12E70A3BFEE}"/>
              </a:ext>
            </a:extLst>
          </p:cNvPr>
          <p:cNvSpPr txBox="1"/>
          <p:nvPr/>
        </p:nvSpPr>
        <p:spPr>
          <a:xfrm>
            <a:off x="5827169" y="6541231"/>
            <a:ext cx="12435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/>
              <a:t>Get the average</a:t>
            </a:r>
          </a:p>
          <a:p>
            <a:pPr algn="ctr"/>
            <a:r>
              <a:rPr lang="en-US" sz="1200" dirty="0"/>
              <a:t>size of all shade</a:t>
            </a:r>
          </a:p>
          <a:p>
            <a:pPr algn="ctr"/>
            <a:r>
              <a:rPr lang="en-US" sz="1200" dirty="0"/>
              <a:t>regions</a:t>
            </a:r>
          </a:p>
        </p:txBody>
      </p:sp>
      <p:cxnSp>
        <p:nvCxnSpPr>
          <p:cNvPr id="148" name="Connector: Elbow 147">
            <a:extLst>
              <a:ext uri="{FF2B5EF4-FFF2-40B4-BE49-F238E27FC236}">
                <a16:creationId xmlns:a16="http://schemas.microsoft.com/office/drawing/2014/main" id="{15747DDF-6388-EA63-F3ED-AF017205D2A8}"/>
              </a:ext>
            </a:extLst>
          </p:cNvPr>
          <p:cNvCxnSpPr>
            <a:cxnSpLocks/>
            <a:stCxn id="128" idx="2"/>
            <a:endCxn id="52" idx="3"/>
          </p:cNvCxnSpPr>
          <p:nvPr/>
        </p:nvCxnSpPr>
        <p:spPr>
          <a:xfrm rot="5400000">
            <a:off x="6095044" y="8400703"/>
            <a:ext cx="3458347" cy="125972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: Elbow 151">
            <a:extLst>
              <a:ext uri="{FF2B5EF4-FFF2-40B4-BE49-F238E27FC236}">
                <a16:creationId xmlns:a16="http://schemas.microsoft.com/office/drawing/2014/main" id="{320A0B94-2108-32FE-BDC1-78AFDAEEE5B7}"/>
              </a:ext>
            </a:extLst>
          </p:cNvPr>
          <p:cNvCxnSpPr>
            <a:stCxn id="103" idx="2"/>
            <a:endCxn id="52" idx="1"/>
          </p:cNvCxnSpPr>
          <p:nvPr/>
        </p:nvCxnSpPr>
        <p:spPr>
          <a:xfrm rot="16200000" flipH="1">
            <a:off x="3112686" y="9401430"/>
            <a:ext cx="1192197" cy="152441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58" name="Object 157">
            <a:extLst>
              <a:ext uri="{FF2B5EF4-FFF2-40B4-BE49-F238E27FC236}">
                <a16:creationId xmlns:a16="http://schemas.microsoft.com/office/drawing/2014/main" id="{88A8DA75-A6AE-7CF2-3756-69BF2CC27D1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1147429"/>
              </p:ext>
            </p:extLst>
          </p:nvPr>
        </p:nvGraphicFramePr>
        <p:xfrm>
          <a:off x="4169109" y="11167167"/>
          <a:ext cx="3385358" cy="2607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10312964" imgH="7943991" progId="">
                  <p:embed/>
                </p:oleObj>
              </mc:Choice>
              <mc:Fallback>
                <p:oleObj r:id="rId10" imgW="10312964" imgH="7943991" progId="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4169109" y="11167167"/>
                        <a:ext cx="3385358" cy="2607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9" name="TextBox 158">
            <a:extLst>
              <a:ext uri="{FF2B5EF4-FFF2-40B4-BE49-F238E27FC236}">
                <a16:creationId xmlns:a16="http://schemas.microsoft.com/office/drawing/2014/main" id="{8E6350AE-A859-CF2E-A2F4-373826D05D1F}"/>
              </a:ext>
            </a:extLst>
          </p:cNvPr>
          <p:cNvSpPr txBox="1"/>
          <p:nvPr/>
        </p:nvSpPr>
        <p:spPr>
          <a:xfrm>
            <a:off x="2504477" y="12348712"/>
            <a:ext cx="14995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Shade region A</a:t>
            </a:r>
          </a:p>
        </p:txBody>
      </p:sp>
      <p:sp>
        <p:nvSpPr>
          <p:cNvPr id="160" name="TextBox 159">
            <a:extLst>
              <a:ext uri="{FF2B5EF4-FFF2-40B4-BE49-F238E27FC236}">
                <a16:creationId xmlns:a16="http://schemas.microsoft.com/office/drawing/2014/main" id="{30D87067-326F-8707-08E8-E10FAED629A7}"/>
              </a:ext>
            </a:extLst>
          </p:cNvPr>
          <p:cNvSpPr txBox="1"/>
          <p:nvPr/>
        </p:nvSpPr>
        <p:spPr>
          <a:xfrm>
            <a:off x="2473097" y="12840883"/>
            <a:ext cx="156164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Shade region B</a:t>
            </a:r>
          </a:p>
        </p:txBody>
      </p:sp>
      <p:sp>
        <p:nvSpPr>
          <p:cNvPr id="161" name="TextBox 160">
            <a:extLst>
              <a:ext uri="{FF2B5EF4-FFF2-40B4-BE49-F238E27FC236}">
                <a16:creationId xmlns:a16="http://schemas.microsoft.com/office/drawing/2014/main" id="{DC1A03AF-65DE-84E8-24AD-070E58D4D4BE}"/>
              </a:ext>
            </a:extLst>
          </p:cNvPr>
          <p:cNvSpPr txBox="1"/>
          <p:nvPr/>
        </p:nvSpPr>
        <p:spPr>
          <a:xfrm>
            <a:off x="2450292" y="13374393"/>
            <a:ext cx="15808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Shade region C</a:t>
            </a:r>
          </a:p>
        </p:txBody>
      </p:sp>
      <p:sp>
        <p:nvSpPr>
          <p:cNvPr id="162" name="TextBox 161">
            <a:extLst>
              <a:ext uri="{FF2B5EF4-FFF2-40B4-BE49-F238E27FC236}">
                <a16:creationId xmlns:a16="http://schemas.microsoft.com/office/drawing/2014/main" id="{84E1DA74-64E6-5A24-FEB3-362D590AF64A}"/>
              </a:ext>
            </a:extLst>
          </p:cNvPr>
          <p:cNvSpPr txBox="1"/>
          <p:nvPr/>
        </p:nvSpPr>
        <p:spPr>
          <a:xfrm>
            <a:off x="2211492" y="11384947"/>
            <a:ext cx="191526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/>
              <a:t>Unified teeth region</a:t>
            </a:r>
          </a:p>
        </p:txBody>
      </p:sp>
      <p:sp>
        <p:nvSpPr>
          <p:cNvPr id="163" name="TextBox 162">
            <a:extLst>
              <a:ext uri="{FF2B5EF4-FFF2-40B4-BE49-F238E27FC236}">
                <a16:creationId xmlns:a16="http://schemas.microsoft.com/office/drawing/2014/main" id="{39C9840C-4FB7-35B7-B574-A6D2EC061ED8}"/>
              </a:ext>
            </a:extLst>
          </p:cNvPr>
          <p:cNvSpPr txBox="1"/>
          <p:nvPr/>
        </p:nvSpPr>
        <p:spPr>
          <a:xfrm>
            <a:off x="7611205" y="12345167"/>
            <a:ext cx="6078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/>
              <a:t>Δ </a:t>
            </a:r>
            <a:r>
              <a:rPr lang="en-US" sz="1600" dirty="0"/>
              <a:t>= 2</a:t>
            </a: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F0E64C8-F659-5C70-C5CB-B18E5AD16AE1}"/>
              </a:ext>
            </a:extLst>
          </p:cNvPr>
          <p:cNvSpPr txBox="1"/>
          <p:nvPr/>
        </p:nvSpPr>
        <p:spPr>
          <a:xfrm>
            <a:off x="7596583" y="12837338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/>
              <a:t>Δ </a:t>
            </a:r>
            <a:r>
              <a:rPr lang="en-US" sz="1600" dirty="0"/>
              <a:t>= 1.5</a:t>
            </a: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D226492F-68D9-6A30-D0E0-D18F53D8132F}"/>
              </a:ext>
            </a:extLst>
          </p:cNvPr>
          <p:cNvSpPr txBox="1"/>
          <p:nvPr/>
        </p:nvSpPr>
        <p:spPr>
          <a:xfrm>
            <a:off x="7583396" y="13370848"/>
            <a:ext cx="77617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sz="1600" dirty="0"/>
              <a:t>Δ </a:t>
            </a:r>
            <a:r>
              <a:rPr lang="en-US" sz="1600" dirty="0"/>
              <a:t>= 2.2</a:t>
            </a:r>
          </a:p>
        </p:txBody>
      </p:sp>
      <p:sp>
        <p:nvSpPr>
          <p:cNvPr id="166" name="Arrow: Right 165">
            <a:extLst>
              <a:ext uri="{FF2B5EF4-FFF2-40B4-BE49-F238E27FC236}">
                <a16:creationId xmlns:a16="http://schemas.microsoft.com/office/drawing/2014/main" id="{32576EB7-F333-AF76-7E43-A3E5CA5A968A}"/>
              </a:ext>
            </a:extLst>
          </p:cNvPr>
          <p:cNvSpPr/>
          <p:nvPr/>
        </p:nvSpPr>
        <p:spPr>
          <a:xfrm rot="10800000">
            <a:off x="8473868" y="12837338"/>
            <a:ext cx="593325" cy="3385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4BB14DC5-CC93-A042-D31C-DA56A0E33E7E}"/>
              </a:ext>
            </a:extLst>
          </p:cNvPr>
          <p:cNvSpPr/>
          <p:nvPr/>
        </p:nvSpPr>
        <p:spPr>
          <a:xfrm>
            <a:off x="9151314" y="12810938"/>
            <a:ext cx="1223223" cy="3913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WINNER!</a:t>
            </a:r>
          </a:p>
        </p:txBody>
      </p:sp>
      <p:sp>
        <p:nvSpPr>
          <p:cNvPr id="170" name="Rectangle: Rounded Corners 169">
            <a:extLst>
              <a:ext uri="{FF2B5EF4-FFF2-40B4-BE49-F238E27FC236}">
                <a16:creationId xmlns:a16="http://schemas.microsoft.com/office/drawing/2014/main" id="{82698DE5-1A9C-9CA3-7E6F-7041A1D147F6}"/>
              </a:ext>
            </a:extLst>
          </p:cNvPr>
          <p:cNvSpPr/>
          <p:nvPr/>
        </p:nvSpPr>
        <p:spPr>
          <a:xfrm>
            <a:off x="112294" y="114526"/>
            <a:ext cx="11954159" cy="64633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SHADE MASTER ALGORITHIM</a:t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0136C143-E4AC-6F99-6E5C-1852C7161894}"/>
              </a:ext>
            </a:extLst>
          </p:cNvPr>
          <p:cNvSpPr txBox="1"/>
          <p:nvPr/>
        </p:nvSpPr>
        <p:spPr>
          <a:xfrm>
            <a:off x="3447718" y="13894918"/>
            <a:ext cx="49360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Compare each sorted shade region against the unified tooth baseline through </a:t>
            </a:r>
            <a:r>
              <a:rPr lang="en-US" sz="1400" b="1" dirty="0"/>
              <a:t>one-to-one color mapping</a:t>
            </a:r>
            <a:r>
              <a:rPr lang="en-US" sz="1400" dirty="0"/>
              <a:t>. We calculate the </a:t>
            </a:r>
            <a:r>
              <a:rPr lang="en-US" sz="1400" b="1" dirty="0"/>
              <a:t>average delta</a:t>
            </a:r>
            <a:r>
              <a:rPr lang="en-US" sz="1400" dirty="0"/>
              <a:t> for each pairing; the region demonstrating the highest color fidelity (the lowest delta) is selected as the winner.</a:t>
            </a:r>
          </a:p>
        </p:txBody>
      </p:sp>
    </p:spTree>
    <p:extLst>
      <p:ext uri="{BB962C8B-B14F-4D97-AF65-F5344CB8AC3E}">
        <p14:creationId xmlns:p14="http://schemas.microsoft.com/office/powerpoint/2010/main" val="4830642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</TotalTime>
  <Words>170</Words>
  <Application>Microsoft Office PowerPoint</Application>
  <PresentationFormat>Custom</PresentationFormat>
  <Paragraphs>46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0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Saleem</dc:creator>
  <cp:lastModifiedBy>Ali Saleem</cp:lastModifiedBy>
  <cp:revision>1</cp:revision>
  <dcterms:created xsi:type="dcterms:W3CDTF">2026-02-01T09:15:49Z</dcterms:created>
  <dcterms:modified xsi:type="dcterms:W3CDTF">2026-02-01T11:13:31Z</dcterms:modified>
</cp:coreProperties>
</file>